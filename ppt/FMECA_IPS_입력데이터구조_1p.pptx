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입력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502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2422"/>
                </a:solidFill>
                <a:latin typeface="Cambria"/>
              </a:rPr>
              <a:t>자산ID로 연결되는 CSV 3종 + config.yaml — 데이터셋이 바뀌어도 형식은 고정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26464"/>
            <a:ext cx="3429000" cy="192024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61872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events.csv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53896"/>
            <a:ext cx="32095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자산별 1행 — 노출시간·고장라벨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46504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asset_id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자산 식별자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34540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exposure_time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노출시간(숫자)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322576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failure_label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고장라벨(0/1)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23444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123444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426464"/>
            <a:ext cx="3429000" cy="192024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261872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readouts.csv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453896"/>
            <a:ext cx="32095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자산×시점 1행 — 시계열 계측값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746504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asset_id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자산 식별자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034540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readout_time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판독 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322576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counters[]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누적형 계측 카운터 1개+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23444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123444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1426464"/>
            <a:ext cx="3429000" cy="192024"/>
          </a:xfrm>
          <a:prstGeom prst="rect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1261872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groups.csv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1453896"/>
            <a:ext cx="32095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자산별 1행 — FMECA 행 그룹핑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136" y="1746504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asset_id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자산 식별자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034540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group_col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FMECA 행 구분 그룹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2322576"/>
            <a:ext cx="3172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2422"/>
                </a:solidFill>
                <a:latin typeface="Consolas"/>
              </a:rPr>
              <a:t>bonus_group_col  </a:t>
            </a:r>
            <a:r>
              <a:rPr sz="869" b="0" i="1">
                <a:solidFill>
                  <a:srgbClr val="55635E"/>
                </a:solidFill>
                <a:latin typeface="Calibri"/>
              </a:rPr>
              <a:t>선택: 보조 드릴다운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9482" y="3611880"/>
            <a:ext cx="15875" cy="292608"/>
          </a:xfrm>
          <a:prstGeom prst="rect">
            <a:avLst/>
          </a:prstGeom>
          <a:solidFill>
            <a:srgbClr val="556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67082" y="3611880"/>
            <a:ext cx="15875" cy="292608"/>
          </a:xfrm>
          <a:prstGeom prst="rect">
            <a:avLst/>
          </a:prstGeom>
          <a:solidFill>
            <a:srgbClr val="556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682" y="3611880"/>
            <a:ext cx="15875" cy="292608"/>
          </a:xfrm>
          <a:prstGeom prst="rect">
            <a:avLst/>
          </a:prstGeom>
          <a:solidFill>
            <a:srgbClr val="556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667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8B968F"/>
                </a:solidFill>
                <a:latin typeface="Calibri"/>
              </a:rPr>
              <a:t>asset_id 로 조인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69080"/>
            <a:ext cx="10744200" cy="1417320"/>
          </a:xfrm>
          <a:prstGeom prst="roundRect">
            <a:avLst>
              <a:gd name="adj" fmla="val 5000"/>
            </a:avLst>
          </a:prstGeom>
          <a:solidFill>
            <a:srgbClr val="F7EBDD"/>
          </a:solidFill>
          <a:ln w="12700">
            <a:solidFill>
              <a:srgbClr val="B56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788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onsolas"/>
              </a:rPr>
              <a:t>config.yaml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72000"/>
            <a:ext cx="25031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A2422"/>
                </a:solidFill>
                <a:latin typeface="Consolas"/>
              </a:rPr>
              <a:t>columns: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3개 CSV의 실제 컬럼명 →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의미역할 매핑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0410" y="4572000"/>
            <a:ext cx="25031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A2422"/>
                </a:solidFill>
                <a:latin typeface="Consolas"/>
              </a:rPr>
              <a:t>groups: / params: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그룹라벨 · 임계값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(z_thresh, lookback 등)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5020" y="4572000"/>
            <a:ext cx="25031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A2422"/>
                </a:solidFill>
                <a:latin typeface="Consolas"/>
              </a:rPr>
              <a:t>assumptions: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IPS 가정치 — value +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rationale(근거) 필수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9630" y="4572000"/>
            <a:ext cx="25031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A2422"/>
                </a:solidFill>
                <a:latin typeface="Consolas"/>
              </a:rPr>
              <a:t>content: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웹앱 서술문(매핑표·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5635E"/>
                </a:solidFill>
                <a:latin typeface="Calibri"/>
              </a:rPr>
              <a:t>공백표·결과해석)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67082" y="5532120"/>
            <a:ext cx="15875" cy="256032"/>
          </a:xfrm>
          <a:prstGeom prst="rect">
            <a:avLst/>
          </a:prstGeom>
          <a:solidFill>
            <a:srgbClr val="556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5806440"/>
            <a:ext cx="10744200" cy="777240"/>
          </a:xfrm>
          <a:prstGeom prst="roundRect">
            <a:avLst>
              <a:gd name="adj" fmla="val 5000"/>
            </a:avLst>
          </a:prstGeom>
          <a:solidFill>
            <a:srgbClr val="F0F4F2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916168"/>
            <a:ext cx="10378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A2422"/>
                </a:solidFill>
                <a:latin typeface="Calibri"/>
              </a:rPr>
              <a:t>6단계 정제 (동기화→드리프트제거→구간분할→결측/이상치→코드정합→라벨정의)</a:t>
            </a:r>
          </a:p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5635E"/>
                </a:solidFill>
                <a:latin typeface="Calibri"/>
              </a:rPr>
              <a:t>→ 자산별 rate(t)·z(t)·anomaly(t) 계산 → O, S, D 산출로 이어짐 (별도 슬라이드: 산출 공식 요약)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8B968F"/>
                </a:solidFill>
                <a:latin typeface="Calibri"/>
              </a:rPr>
              <a:t>스키마 상세는 DATASET_FORMAT.md 참고 · 현재 예시: SCANIA Component X (23,550대, CC BY 4.0) — events=train_tte.csv, readouts=train_operational_readouts.csv, groups=train_specifications.csv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