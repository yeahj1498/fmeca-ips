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2422"/>
                </a:solidFill>
              </a:rPr>
              <a:t>RPN (O×S×D)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RPN</c:v>
                </c:pt>
              </c:strCache>
            </c:strRef>
          </c:tx>
          <c:spPr>
            <a:solidFill>
              <a:srgbClr val="2C6B73"/>
            </a:solidFill>
          </c:spPr>
          <c:cat>
            <c:strRef>
              <c:f>Sheet1!$A$2:$A$5</c:f>
              <c:strCache>
                <c:ptCount val="4"/>
                <c:pt idx="0">
                  <c:v>형상A</c:v>
                </c:pt>
                <c:pt idx="1">
                  <c:v>형상B</c:v>
                </c:pt>
                <c:pt idx="2">
                  <c:v>형상C</c:v>
                </c:pt>
                <c:pt idx="3">
                  <c:v>형상D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</c:v>
                </c:pt>
                <c:pt idx="1">
                  <c:v>800</c:v>
                </c:pt>
                <c:pt idx="2">
                  <c:v>80</c:v>
                </c:pt>
                <c:pt idx="3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50">
                  <a:solidFill>
                    <a:srgbClr val="1A24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D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2422"/>
                </a:solidFill>
              </a:rPr>
              <a:t>Spec_3 사양군별 발생률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발생률 (/1000 time-step)</c:v>
                </c:pt>
              </c:strCache>
            </c:strRef>
          </c:tx>
          <c:spPr>
            <a:solidFill>
              <a:srgbClr val="2C6B73"/>
            </a:solidFill>
          </c:spPr>
          <c:dPt>
            <c:idx val="3"/>
            <c:spPr>
              <a:solidFill>
                <a:srgbClr val="A8342C"/>
              </a:solidFill>
            </c:spPr>
          </c:dPt>
          <c:cat>
            <c:strRef>
              <c:f>Sheet1!$A$2:$A$5</c:f>
              <c:strCache>
                <c:ptCount val="4"/>
                <c:pt idx="0">
                  <c:v>형상D
(Cat3)</c:v>
                </c:pt>
                <c:pt idx="1">
                  <c:v>형상C
(Cat2)</c:v>
                </c:pt>
                <c:pt idx="2">
                  <c:v>형상A
(Cat0)</c:v>
                </c:pt>
                <c:pt idx="3">
                  <c:v>형상B
(Cat1)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0.17452</c:v>
                </c:pt>
                <c:pt idx="1">
                  <c:v>0.29045</c:v>
                </c:pt>
                <c:pt idx="2">
                  <c:v>0.41409</c:v>
                </c:pt>
                <c:pt idx="3">
                  <c:v>0.4942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50">
                  <a:solidFill>
                    <a:srgbClr val="1A24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DE3D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2422"/>
                </a:solidFill>
              </a:rPr>
              <a:t>탐지율 vs 우연 수준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실제 탐지율(%)</c:v>
                </c:pt>
              </c:strCache>
            </c:strRef>
          </c:tx>
          <c:spPr>
            <a:solidFill>
              <a:srgbClr val="2C6B73"/>
            </a:solidFill>
          </c:spPr>
          <c:cat>
            <c:strRef>
              <c:f>Sheet1!$A$2:$A$5</c:f>
              <c:strCache>
                <c:ptCount val="4"/>
                <c:pt idx="0">
                  <c:v>형상A</c:v>
                </c:pt>
                <c:pt idx="1">
                  <c:v>형상B</c:v>
                </c:pt>
                <c:pt idx="2">
                  <c:v>형상C</c:v>
                </c:pt>
                <c:pt idx="3">
                  <c:v>형상D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10.45</c:v>
                </c:pt>
                <c:pt idx="1">
                  <c:v>11.84</c:v>
                </c:pt>
                <c:pt idx="2">
                  <c:v>11.84</c:v>
                </c:pt>
                <c:pt idx="3">
                  <c:v>9.09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우연 수준(%)</c:v>
                </c:pt>
              </c:strCache>
            </c:strRef>
          </c:tx>
          <c:spPr>
            <a:solidFill>
              <a:srgbClr val="8B968F"/>
            </a:solidFill>
          </c:spPr>
          <c:cat>
            <c:strRef>
              <c:f>Sheet1!$A$2:$A$5</c:f>
              <c:strCache>
                <c:ptCount val="4"/>
                <c:pt idx="0">
                  <c:v>형상A</c:v>
                </c:pt>
                <c:pt idx="1">
                  <c:v>형상B</c:v>
                </c:pt>
                <c:pt idx="2">
                  <c:v>형상C</c:v>
                </c:pt>
                <c:pt idx="3">
                  <c:v>형상D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9.52</c:v>
                </c:pt>
                <c:pt idx="1">
                  <c:v>8.6</c:v>
                </c:pt>
                <c:pt idx="2">
                  <c:v>9.47</c:v>
                </c:pt>
                <c:pt idx="3">
                  <c:v>10.14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50">
                  <a:solidFill>
                    <a:srgbClr val="1A242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D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2422"/>
                </a:solidFill>
              </a:rPr>
              <a:t>RPN: 적용 전 → 적용 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적용 전 RPN</c:v>
                </c:pt>
              </c:strCache>
            </c:strRef>
          </c:tx>
          <c:spPr>
            <a:solidFill>
              <a:srgbClr val="8B968F"/>
            </a:solidFill>
          </c:spPr>
          <c:cat>
            <c:strRef>
              <c:f>Sheet1!$A$2:$A$5</c:f>
              <c:strCache>
                <c:ptCount val="4"/>
                <c:pt idx="0">
                  <c:v>형상A</c:v>
                </c:pt>
                <c:pt idx="1">
                  <c:v>형상B</c:v>
                </c:pt>
                <c:pt idx="2">
                  <c:v>형상C</c:v>
                </c:pt>
                <c:pt idx="3">
                  <c:v>형상D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</c:v>
                </c:pt>
                <c:pt idx="1">
                  <c:v>800</c:v>
                </c:pt>
                <c:pt idx="2">
                  <c:v>80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적용 후 RPN</c:v>
                </c:pt>
              </c:strCache>
            </c:strRef>
          </c:tx>
          <c:spPr>
            <a:solidFill>
              <a:srgbClr val="3C7A4F"/>
            </a:solidFill>
          </c:spPr>
          <c:cat>
            <c:strRef>
              <c:f>Sheet1!$A$2:$A$5</c:f>
              <c:strCache>
                <c:ptCount val="4"/>
                <c:pt idx="0">
                  <c:v>형상A</c:v>
                </c:pt>
                <c:pt idx="1">
                  <c:v>형상B</c:v>
                </c:pt>
                <c:pt idx="2">
                  <c:v>형상C</c:v>
                </c:pt>
                <c:pt idx="3">
                  <c:v>형상D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225</c:v>
                </c:pt>
                <c:pt idx="1">
                  <c:v>640</c:v>
                </c:pt>
                <c:pt idx="2">
                  <c:v>50</c:v>
                </c:pt>
                <c:pt idx="3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>
                  <a:solidFill>
                    <a:srgbClr val="1A242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D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3DF"/>
            </a:solidFill>
          </a:ln>
        </c:spPr>
        <c:txPr>
          <a:bodyPr/>
          <a:lstStyle/>
          <a:p>
            <a:pPr>
              <a:defRPr sz="1000">
                <a:solidFill>
                  <a:srgbClr val="55635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FD8DC"/>
                </a:solidFill>
                <a:latin typeface="Calibri"/>
              </a:rPr>
              <a:t>실측 임베디드 장비 데이터 기반 FMECA–IPS 연계체계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FMECA → RCM → LORA →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보급소요 → IETM → 설계개선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7ECE9"/>
                </a:solidFill>
                <a:latin typeface="Calibri"/>
              </a:rPr>
              <a:t>SCANIA Component X 실측 데이터로 실증한 종합군수지원(IPS) 연계 파이프라인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502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434840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BB4"/>
                </a:solidFill>
                <a:latin typeface="Calibri"/>
              </a:rPr>
              <a:t>CC BY 4.0 · 실측(익명화·섭동 처리) · Kharazian et al. 2025, Scientific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BB4"/>
                </a:solidFill>
                <a:latin typeface="Calibri"/>
              </a:rPr>
              <a:t>FMECA–IPS 연계체계 실증 연구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BB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배경 ·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군 장비 데이터가 없으면, 실증은 불가능한가?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074920" cy="4480560"/>
          </a:xfrm>
          <a:prstGeom prst="roundRect">
            <a:avLst>
              <a:gd name="adj" fmla="val 35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C6B73"/>
                </a:solidFill>
                <a:latin typeface="Cambria"/>
              </a:rPr>
              <a:t>왜 실측 대체 데이터인가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434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3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군 정비·운용 데이터는 보안 등급 때문에 이 환경에서 접근 불가능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그렇다고 처음부터 가상 데이터로만 방법론을 보이면 “실전에서 통할까”라는 의문이 남음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구조가 비슷한 민간 임베디드 장비(트럭 엔진계통)의 실측 공개 데이터로 대체 — 계산 절차 자체가 실제 데이터에서 작동하는지 검증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산업계가 실제로 공개하는 데이터의 전형(민감정보는 섭동, 구조·경향은 보존)이라는 점도 오히려 현실적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07492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C6B73"/>
                </a:solidFill>
                <a:latin typeface="Cambria"/>
              </a:rPr>
              <a:t>이 발표의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40280"/>
            <a:ext cx="4434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35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원시 로그 한 줄이 FMECA의 O·S·D 칸을 채우는 계산식을 정확히 공개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FMECA 결과가 RCM → LORA → 보급소요 → IETM → 설계개선(ECP)까지 실제로 이어지는 연계체계 시연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설계개선이 다음 주기 FMECA에 피드백되는 환류(feedback) 구조를 수치로 시연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실측 데이터가 보여준 정직한 한계(약한 탐지 신호 등)까지 있는 그대로 보고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01_dataset_card.md · 05_ips_impact.md 참고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입력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SCANIA Component X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09928"/>
            <a:ext cx="22402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C6B73"/>
                </a:solidFill>
                <a:latin typeface="Cambria"/>
              </a:rPr>
              <a:t>23,550대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87752"/>
            <a:ext cx="2240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차량(트럭) 규모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709928"/>
            <a:ext cx="22402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C6B73"/>
                </a:solidFill>
                <a:latin typeface="Cambria"/>
              </a:rPr>
              <a:t>1,122,452행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87752"/>
            <a:ext cx="2240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계측(운영) 로그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709928"/>
            <a:ext cx="22402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C6B73"/>
                </a:solidFill>
                <a:latin typeface="Cambria"/>
              </a:rPr>
              <a:t>2,272건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587752"/>
            <a:ext cx="2240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실제 수리(고장)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709928"/>
            <a:ext cx="22402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C6B73"/>
                </a:solidFill>
                <a:latin typeface="Cambria"/>
              </a:rPr>
              <a:t>CC BY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87752"/>
            <a:ext cx="22402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라이선스, 즉시 다운로드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6B73"/>
                </a:solidFill>
                <a:latin typeface="Cambria"/>
              </a:rPr>
              <a:t>무엇을 담고 있나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3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실제 SCANIA 트럭 함대의 엔진계통 구성품 “Component X” 1종 — 명칭·규격은 영업비밀로 익명화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운영데이터(8개 누적 계측 카운터) + 수리기록(time-to-event) + 차량 사양(Spec_0–7)</a:t>
            </a:r>
          </a:p>
          <a:p>
            <a:pPr>
              <a:spcAft>
                <a:spcPts val="864"/>
              </a:spcAft>
            </a:pPr>
            <a:r>
              <a:rPr sz="13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350" b="0" i="0">
                <a:solidFill>
                  <a:srgbClr val="1A2422"/>
                </a:solidFill>
                <a:latin typeface="Calibri"/>
              </a:rPr>
              <a:t>공개를 위해 판독·수리 빈도에 스케일링 등 섭동(perturbation) 처리 — “완전 실측”과 “완전 합성” 사이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651D"/>
                </a:solidFill>
                <a:latin typeface="Cambria"/>
              </a:rPr>
              <a:t>이번 예시가 다른 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30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300" b="0" i="0">
                <a:solidFill>
                  <a:srgbClr val="1A2422"/>
                </a:solidFill>
                <a:latin typeface="Calibri"/>
              </a:rPr>
              <a:t>구성품이 하나뿐 — “4개 고장모드” 대신 “1개 고장모드 × 4개 차량 사양군(Spec_3)”으로 FMECA 행 구성</a:t>
            </a:r>
          </a:p>
          <a:p>
            <a:pPr>
              <a:spcAft>
                <a:spcPts val="864"/>
              </a:spcAft>
            </a:pPr>
            <a:r>
              <a:rPr sz="130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300" b="0" i="0">
                <a:solidFill>
                  <a:srgbClr val="1A2422"/>
                </a:solidFill>
                <a:latin typeface="Calibri"/>
              </a:rPr>
              <a:t>채널 8개 모두 물리적 의미 비공개 — “이상치 유무”까지만 판단 가능, 원인 설명 불가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출처: doi.org/10.5878/jvb5-d390  ·  Kharazian et al., Scientific Data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FMECA → RCM → LORA → 보급 → IETM → 설계개선, 한눈에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417320" cy="1234440"/>
          </a:xfrm>
          <a:prstGeom prst="roundRect">
            <a:avLst>
              <a:gd name="adj" fmla="val 9000"/>
            </a:avLst>
          </a:prstGeom>
          <a:solidFill>
            <a:srgbClr val="16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실측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운용·계측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B968F"/>
                </a:solidFill>
                <a:latin typeface="Calibri"/>
              </a:rPr>
              <a:t>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1489" y="1920240"/>
            <a:ext cx="1417320" cy="1234440"/>
          </a:xfrm>
          <a:prstGeom prst="roundRect">
            <a:avLst>
              <a:gd name="adj" fmla="val 9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FMECA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O·S·D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실적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1489" y="16276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B968F"/>
                </a:solidFill>
                <a:latin typeface="Calibr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4338" y="1920240"/>
            <a:ext cx="1417320" cy="1234440"/>
          </a:xfrm>
          <a:prstGeom prst="roundRect">
            <a:avLst>
              <a:gd name="adj" fmla="val 9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RCM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정비전략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4338" y="16276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B968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7187" y="1920240"/>
            <a:ext cx="1417320" cy="1234440"/>
          </a:xfrm>
          <a:prstGeom prst="roundRect">
            <a:avLst>
              <a:gd name="adj" fmla="val 9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LORA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수리수준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7187" y="16276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B968F"/>
                </a:solidFill>
                <a:latin typeface="Calibri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36" y="1920240"/>
            <a:ext cx="1417320" cy="1234440"/>
          </a:xfrm>
          <a:prstGeom prst="roundRect">
            <a:avLst>
              <a:gd name="adj" fmla="val 9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보급소요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36" y="16276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B968F"/>
                </a:solidFill>
                <a:latin typeface="Calibri"/>
              </a:rP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12885" y="1920240"/>
            <a:ext cx="1417320" cy="1234440"/>
          </a:xfrm>
          <a:prstGeom prst="roundRect">
            <a:avLst>
              <a:gd name="adj" fmla="val 9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IETM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연계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2885" y="16276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B968F"/>
                </a:solidFill>
                <a:latin typeface="Calibri"/>
              </a:rPr>
              <a:t>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5734" y="1920240"/>
            <a:ext cx="1417320" cy="1234440"/>
          </a:xfrm>
          <a:prstGeom prst="roundRect">
            <a:avLst>
              <a:gd name="adj" fmla="val 9000"/>
            </a:avLst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설계개선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(ECP)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4" y="16276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B968F"/>
                </a:solidFill>
                <a:latin typeface="Calibri"/>
              </a:rPr>
              <a:t>06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93392" y="2537460"/>
            <a:ext cx="140665" cy="0"/>
          </a:xfrm>
          <a:prstGeom prst="line">
            <a:avLst/>
          </a:prstGeom>
          <a:ln w="19050">
            <a:solidFill>
              <a:srgbClr val="8B96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06241" y="2537460"/>
            <a:ext cx="140665" cy="0"/>
          </a:xfrm>
          <a:prstGeom prst="line">
            <a:avLst/>
          </a:prstGeom>
          <a:ln w="19050">
            <a:solidFill>
              <a:srgbClr val="8B96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19090" y="2537460"/>
            <a:ext cx="140665" cy="0"/>
          </a:xfrm>
          <a:prstGeom prst="line">
            <a:avLst/>
          </a:prstGeom>
          <a:ln w="19050">
            <a:solidFill>
              <a:srgbClr val="8B96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31939" y="2537460"/>
            <a:ext cx="140665" cy="0"/>
          </a:xfrm>
          <a:prstGeom prst="line">
            <a:avLst/>
          </a:prstGeom>
          <a:ln w="19050">
            <a:solidFill>
              <a:srgbClr val="8B96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44788" y="2537460"/>
            <a:ext cx="140665" cy="0"/>
          </a:xfrm>
          <a:prstGeom prst="line">
            <a:avLst/>
          </a:prstGeom>
          <a:ln w="19050">
            <a:solidFill>
              <a:srgbClr val="8B96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57637" y="2537460"/>
            <a:ext cx="140665" cy="0"/>
          </a:xfrm>
          <a:prstGeom prst="line">
            <a:avLst/>
          </a:prstGeom>
          <a:ln w="19050">
            <a:solidFill>
              <a:srgbClr val="8B96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3611880"/>
            <a:ext cx="11091672" cy="777240"/>
          </a:xfrm>
          <a:prstGeom prst="roundRect">
            <a:avLst>
              <a:gd name="adj" fmla="val 12000"/>
            </a:avLst>
          </a:prstGeom>
          <a:solidFill>
            <a:srgbClr val="F7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3075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Calibri"/>
              </a:rPr>
              <a:t>↺  피드백 루프 — </a:t>
            </a:r>
            <a:r>
              <a:rPr sz="1300" b="0" i="0">
                <a:solidFill>
                  <a:srgbClr val="1A2422"/>
                </a:solidFill>
                <a:latin typeface="Calibri"/>
              </a:rPr>
              <a:t>설계개선(ECP) 결과가 다음 재평가 주기의 O(발생도)·D(검출도) 입력을 갱신 — 실제로 재계산되는 예시는 p.13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35E"/>
                </a:solidFill>
                <a:latin typeface="Calibri"/>
              </a:rPr>
              <a:t>이 발표의 각 섹션은 위 7단계 중 하나에 대응한다 — </a:t>
            </a:r>
            <a:r>
              <a:rPr sz="1300" b="1" i="0">
                <a:solidFill>
                  <a:srgbClr val="55635E"/>
                </a:solidFill>
                <a:latin typeface="Calibri"/>
              </a:rPr>
              <a:t>정제(§5) → O/S/D 공식(§6) → FMECA 결과(§7–9) → RCM/LORA(§10–11) → 보급/IETM/ECP(§11–12) → 피드백(§13)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웹 워크벤치: claude.ai/code/artifact/7c5a27c2-… (09 피드백 시뮬레이터 탭)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입력 정제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정제 파이프라인 — 순서 고정 6단계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81912"/>
            <a:ext cx="457200" cy="457200"/>
          </a:xfrm>
          <a:prstGeom prst="ellipse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283464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2422"/>
                </a:solidFill>
                <a:latin typeface="Cambria"/>
              </a:rPr>
              <a:t>동기화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448056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35E"/>
                </a:solidFill>
                <a:latin typeface="Calibri"/>
              </a:rPr>
              <a:t>차량별로 비동기인 계측 판독을 vehicle_id+time_step 키로 정합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600200"/>
            <a:ext cx="2926080" cy="594360"/>
          </a:xfrm>
          <a:prstGeom prst="roundRect">
            <a:avLst>
              <a:gd name="adj" fmla="val 18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600200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6B73"/>
                </a:solidFill>
                <a:latin typeface="Calibri"/>
              </a:rPr>
              <a:t>판독 1,122,452행 · 차량당 중앙값 43회(5~303회)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2868"/>
            <a:ext cx="457200" cy="457200"/>
          </a:xfrm>
          <a:prstGeom prst="ellipse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28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99716"/>
            <a:ext cx="283464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2422"/>
                </a:solidFill>
                <a:latin typeface="Cambria"/>
              </a:rPr>
              <a:t>드리프트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99716"/>
            <a:ext cx="448056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35E"/>
                </a:solidFill>
                <a:latin typeface="Calibri"/>
              </a:rPr>
              <a:t>차량×채널 증분율(rate)을 자기 자신의 과거 이력으로 z-정규화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391156"/>
            <a:ext cx="2926080" cy="594360"/>
          </a:xfrm>
          <a:prstGeom prst="roundRect">
            <a:avLst>
              <a:gd name="adj" fmla="val 18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391156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6B73"/>
                </a:solidFill>
                <a:latin typeface="Calibri"/>
              </a:rPr>
              <a:t>이상지수 산출 1,098,902행 (97.9%)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090672"/>
            <a:ext cx="283464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2422"/>
                </a:solidFill>
                <a:latin typeface="Cambria"/>
              </a:rPr>
              <a:t>구간 분할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090672"/>
            <a:ext cx="448056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35E"/>
                </a:solidFill>
                <a:latin typeface="Calibri"/>
              </a:rPr>
              <a:t>train_tte.csv가 장착 이후 경과 time-step을 이미 제공 — 좌측절단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182112"/>
            <a:ext cx="2926080" cy="594360"/>
          </a:xfrm>
          <a:prstGeom prst="roundRect">
            <a:avLst>
              <a:gd name="adj" fmla="val 18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182112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6B73"/>
                </a:solidFill>
                <a:latin typeface="Calibri"/>
              </a:rPr>
              <a:t>수리 2,272건 · 무고장(우측절단) 21,278대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954780"/>
            <a:ext cx="457200" cy="457200"/>
          </a:xfrm>
          <a:prstGeom prst="ellipse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547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81628"/>
            <a:ext cx="283464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2422"/>
                </a:solidFill>
                <a:latin typeface="Cambria"/>
              </a:rPr>
              <a:t>결측치 / 이상치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881628"/>
            <a:ext cx="448056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35E"/>
                </a:solidFill>
                <a:latin typeface="Calibri"/>
              </a:rPr>
              <a:t>채널당 결측률 재확인, 이상지수&gt;8 극단치 플래그(삭제 아님)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3973068"/>
            <a:ext cx="2926080" cy="594360"/>
          </a:xfrm>
          <a:prstGeom prst="roundRect">
            <a:avLst>
              <a:gd name="adj" fmla="val 18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973068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6B73"/>
                </a:solidFill>
                <a:latin typeface="Calibri"/>
              </a:rPr>
              <a:t>결측 &lt;1%/채널 · 이상치 94건(0.0086%)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672584"/>
            <a:ext cx="283464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2422"/>
                </a:solidFill>
                <a:latin typeface="Cambria"/>
              </a:rPr>
              <a:t>코드 정합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672584"/>
            <a:ext cx="448056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35E"/>
                </a:solidFill>
                <a:latin typeface="Calibri"/>
              </a:rPr>
              <a:t>3개 파일 간 vehicle_id 일치성, 중복행 검증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4764024"/>
            <a:ext cx="2926080" cy="594360"/>
          </a:xfrm>
          <a:prstGeom prst="roundRect">
            <a:avLst>
              <a:gd name="adj" fmla="val 18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4764024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6B73"/>
                </a:solidFill>
                <a:latin typeface="Calibri"/>
              </a:rPr>
              <a:t>ID 불일치 0건 · 중복행 0건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5536692"/>
            <a:ext cx="457200" cy="457200"/>
          </a:xfrm>
          <a:prstGeom prst="ellipse">
            <a:avLst/>
          </a:prstGeom>
          <a:solidFill>
            <a:srgbClr val="2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5366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463540"/>
            <a:ext cx="283464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2422"/>
                </a:solidFill>
                <a:latin typeface="Cambria"/>
              </a:rPr>
              <a:t>라벨 정의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463540"/>
            <a:ext cx="4480560" cy="790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35E"/>
                </a:solidFill>
                <a:latin typeface="Calibri"/>
              </a:rPr>
              <a:t>수리(양성) vs 무고장(음성) 라벨 및 클래스 불균형비 산출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5554980"/>
            <a:ext cx="2926080" cy="594360"/>
          </a:xfrm>
          <a:prstGeom prst="roundRect">
            <a:avLst>
              <a:gd name="adj" fmla="val 18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5554980"/>
            <a:ext cx="2651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C6B73"/>
                </a:solidFill>
                <a:latin typeface="Calibri"/>
              </a:rPr>
              <a:t>0.4014건 / 1,000 time-step (극단 불균형)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outputs/cleansing_stats.json 재계산 결과 (실측 데이터)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계산식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발생도(O)·검출도(D) — 원시 로그에서 등급까지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3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C6B73"/>
                </a:solidFill>
                <a:latin typeface="Cambria"/>
              </a:rPr>
              <a:t>발생도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422"/>
                </a:solidFill>
                <a:latin typeface="Consolas"/>
              </a:rPr>
              <a:t>λ = 수리건수(k) / 노출시간(Σ time-step)</a:t>
            </a:r>
          </a:p>
          <a:p>
            <a:pPr algn="l"/>
            <a:r>
              <a:rPr sz="1300" b="0" i="0">
                <a:solidFill>
                  <a:srgbClr val="1A2422"/>
                </a:solidFill>
                <a:latin typeface="Consolas"/>
              </a:rPr>
              <a:t>rate = λ × 1000   (1000 time-step당 건수)</a:t>
            </a:r>
          </a:p>
          <a:p>
            <a:pPr algn="l"/>
            <a:r>
              <a:rPr sz="1300" b="0" i="0">
                <a:solidFill>
                  <a:srgbClr val="1A2422"/>
                </a:solidFill>
                <a:latin typeface="Consolas"/>
              </a:rPr>
              <a:t>O등급 = log10(rate)를 관측범위 10구간</a:t>
            </a:r>
          </a:p>
          <a:p>
            <a:pPr algn="l"/>
            <a:r>
              <a:rPr sz="1300" b="0" i="0">
                <a:solidFill>
                  <a:srgbClr val="1A2422"/>
                </a:solidFill>
                <a:latin typeface="Consolas"/>
              </a:rPr>
              <a:t>        균등분할해 1~10 배정</a:t>
            </a:r>
          </a:p>
          <a:p>
            <a:pPr algn="l"/>
            <a:r>
              <a:rPr sz="1300" b="0" i="0">
                <a:solidFill>
                  <a:srgbClr val="1A2422"/>
                </a:solidFill>
                <a:latin typeface="Consolas"/>
              </a:rPr>
              <a:t>95%CI = χ²(0.025,2k)/2 , χ²(0.975,2(k+1))/2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45720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35E"/>
                </a:solidFill>
                <a:latin typeface="Calibri"/>
              </a:rPr>
              <a:t>발생도가 높다 = 노출시간당 실제 수리건수가 많다</a:t>
            </a:r>
          </a:p>
          <a:p>
            <a:pPr algn="l"/>
            <a:r>
              <a:rPr sz="1200" b="0" i="0">
                <a:solidFill>
                  <a:srgbClr val="55635E"/>
                </a:solidFill>
                <a:latin typeface="Calibri"/>
              </a:rPr>
              <a:t>표본이 큰 사양군(수천 대)일수록 신뢰구간이 좁아 통계적으로 확고한 차이를 준다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554480"/>
            <a:ext cx="56692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5651D"/>
                </a:solidFill>
                <a:latin typeface="Cambria"/>
              </a:rPr>
              <a:t>검출도 D — 열화추세 → 이상지수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422"/>
                </a:solidFill>
                <a:latin typeface="Calibri"/>
              </a:rPr>
              <a:t>증분율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9456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55635E"/>
                </a:solidFill>
                <a:latin typeface="Consolas"/>
              </a:rPr>
              <a:t>rate(t) = [value(t)-value(t-1)] / [t-(t-1)]  — 8개 채널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6148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6148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422"/>
                </a:solidFill>
                <a:latin typeface="Calibri"/>
              </a:rPr>
              <a:t>자기기준 정규화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61488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55635E"/>
                </a:solidFill>
                <a:latin typeface="Consolas"/>
              </a:rPr>
              <a:t>z(t) = [rate(t) - μ] / σ   (그 차량 과거 이력 기준)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2841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libri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28416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422"/>
                </a:solidFill>
                <a:latin typeface="Calibri"/>
              </a:rPr>
              <a:t>종합 이상지수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28416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55635E"/>
                </a:solidFill>
                <a:latin typeface="Consolas"/>
              </a:rPr>
              <a:t>anomaly(t) = mean(|z_1|, …, |z_8|)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9534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libri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895344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422"/>
                </a:solidFill>
                <a:latin typeface="Calibri"/>
              </a:rPr>
              <a:t>최초 경보시점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89534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55635E"/>
                </a:solidFill>
                <a:latin typeface="Consolas"/>
              </a:rPr>
              <a:t>t* = min{t : anomaly(t) &gt; 2.5}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62272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libri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46227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422"/>
                </a:solidFill>
                <a:latin typeface="Calibri"/>
              </a:rPr>
              <a:t>리드타임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46227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55635E"/>
                </a:solidFill>
                <a:latin typeface="Consolas"/>
              </a:rPr>
              <a:t>lead = 수리시점 - t*  (0~60 이내만 “탐지”로 인정)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0292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Calibri"/>
              </a:rP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02920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422"/>
                </a:solidFill>
                <a:latin typeface="Calibri"/>
              </a:rPr>
              <a:t>우연수준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02920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0" i="0">
                <a:solidFill>
                  <a:srgbClr val="55635E"/>
                </a:solidFill>
                <a:latin typeface="Consolas"/>
              </a:rPr>
              <a:t>이항검정으로 무고장 차량의 우연 교차율과 비교(p&lt;0.05)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64184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422"/>
                </a:solidFill>
                <a:latin typeface="Consolas"/>
              </a:rPr>
              <a:t>D등급 = round(10 − 9×[0.6×탐지율 + 0.4×min(리드타임/60,1)])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scripts/01_pipeline.py  ·  S(심각도,근사)=anomaly평균, guide word+오차율(%)로 이탈 명시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FMECA 워크시트 — 4개 사양군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60350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77240"/>
                <a:gridCol w="685800"/>
                <a:gridCol w="548640"/>
                <a:gridCol w="548640"/>
                <a:gridCol w="548640"/>
                <a:gridCol w="685800"/>
                <a:gridCol w="685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사양군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차량수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수리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RPN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RI</a:t>
                      </a:r>
                    </a:p>
                  </a:txBody>
                  <a:tcPr anchor="ctr" marL="73152" marT="27432" marB="27432">
                    <a:solidFill>
                      <a:srgbClr val="2C6B7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형상B (Cat1)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5,083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608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형상A (Cat0)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14,438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1,435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형상C (Cat2)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2,158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anchor="ctr" marL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형상D (Cat3)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1,871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anchor="ctr" marL="73152" marT="27432" marB="27432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0" y="1600200"/>
          <a:ext cx="480060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4340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422"/>
                </a:solidFill>
                <a:latin typeface="Calibri"/>
              </a:rPr>
              <a:t>순위 역전 없음: </a:t>
            </a:r>
            <a:r>
              <a:rPr sz="1300" b="0" i="0">
                <a:solidFill>
                  <a:srgbClr val="55635E"/>
                </a:solidFill>
                <a:latin typeface="Calibri"/>
              </a:rPr>
              <a:t>D등급이 4개 사양군 모두 동일(8)해 순위에 영향을 주지 못했고, O·S가 완전히 같은 순서로 정렬됨</a:t>
            </a:r>
          </a:p>
          <a:p>
            <a:pPr algn="l"/>
            <a:r>
              <a:rPr sz="1250" b="0" i="0">
                <a:solidFill>
                  <a:srgbClr val="55635E"/>
                </a:solidFill>
                <a:latin typeface="Calibri"/>
              </a:rPr>
              <a:t>→ 위험 요인들이 서로 강화하는 방향으로 실제로 작동한다는 뜻 (이전 두 시뮬레이션 예시와 대조되는 실측 데이터의 특징)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04_fmeca_worksheet.csv 전문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핵심 발견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동일 고장모드, 차량 사양에 따라 위험도가 2.8~14.7배 갈린다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58521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2084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6B73"/>
                </a:solidFill>
                <a:latin typeface="Cambria"/>
              </a:rPr>
              <a:t>표본이 커서 통계적으로 확고함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574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2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250" b="0" i="0">
                <a:solidFill>
                  <a:srgbClr val="1A2422"/>
                </a:solidFill>
                <a:latin typeface="Calibri"/>
              </a:rPr>
              <a:t>형상B(5,083대) 0.494 vs 형상D(1,871대) 0.175 → 2.8배</a:t>
            </a:r>
          </a:p>
          <a:p>
            <a:pPr>
              <a:spcAft>
                <a:spcPts val="864"/>
              </a:spcAft>
            </a:pPr>
            <a:r>
              <a:rPr sz="12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250" b="0" i="0">
                <a:solidFill>
                  <a:srgbClr val="1A2422"/>
                </a:solidFill>
                <a:latin typeface="Calibri"/>
              </a:rPr>
              <a:t>95% CI 0.456–0.535 vs 0.138–0.218 — 겹치지 않음</a:t>
            </a:r>
          </a:p>
          <a:p>
            <a:pPr>
              <a:spcAft>
                <a:spcPts val="864"/>
              </a:spcAft>
            </a:pPr>
            <a:r>
              <a:rPr sz="1250" b="1" i="0">
                <a:solidFill>
                  <a:srgbClr val="2C6B73"/>
                </a:solidFill>
                <a:latin typeface="Calibri"/>
              </a:rPr>
              <a:t>―  </a:t>
            </a:r>
            <a:r>
              <a:rPr sz="1250" b="0" i="0">
                <a:solidFill>
                  <a:srgbClr val="1A2422"/>
                </a:solidFill>
                <a:latin typeface="Calibri"/>
              </a:rPr>
              <a:t>심각도(S, 근사지표)도 같은 순서 — 형상B가 “더 자주, 더 강한 이상신호” 동반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343400"/>
            <a:ext cx="4937760" cy="1600200"/>
          </a:xfrm>
          <a:prstGeom prst="roundRect">
            <a:avLst>
              <a:gd name="adj" fmla="val 6000"/>
            </a:avLst>
          </a:prstGeom>
          <a:solidFill>
            <a:srgbClr val="F8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453128"/>
            <a:ext cx="4663440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8342C"/>
                </a:solidFill>
                <a:latin typeface="Cambria"/>
              </a:rPr>
              <a:t>14.69배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559552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보너스 사례 · Spec_2 극단값: Cat5(545대, 0.918) vs Cat12(206대, 0.062) /1000 time-step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outputs/occurrence_stats.csv · spec2_case.json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핵심 발견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실측 데이터의 정직한 결론 — 조기경보는 생각보다 약하다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64922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64592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C6B73"/>
                </a:solidFill>
                <a:latin typeface="Cambria"/>
              </a:rPr>
              <a:t>이항검정 유의성 (p &lt; 0.05)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103120"/>
            <a:ext cx="4251960" cy="566928"/>
          </a:xfrm>
          <a:prstGeom prst="roundRect">
            <a:avLst>
              <a:gd name="adj" fmla="val 15000"/>
            </a:avLst>
          </a:prstGeom>
          <a:solidFill>
            <a:srgbClr val="E3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10312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35E"/>
                </a:solidFill>
                <a:latin typeface="Consolas"/>
              </a:rPr>
              <a:t>p = 0.0039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10312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C7A4F"/>
                </a:solidFill>
                <a:latin typeface="Calibri"/>
              </a:rPr>
              <a:t>유의함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788920"/>
            <a:ext cx="4251960" cy="566928"/>
          </a:xfrm>
          <a:prstGeom prst="roundRect">
            <a:avLst>
              <a:gd name="adj" fmla="val 15000"/>
            </a:avLst>
          </a:prstGeom>
          <a:solidFill>
            <a:srgbClr val="F8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78892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78892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35E"/>
                </a:solidFill>
                <a:latin typeface="Consolas"/>
              </a:rPr>
              <a:t>p = 0.124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78892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8342C"/>
                </a:solidFill>
                <a:latin typeface="Calibri"/>
              </a:rPr>
              <a:t>비유의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474720"/>
            <a:ext cx="4251960" cy="566928"/>
          </a:xfrm>
          <a:prstGeom prst="roundRect">
            <a:avLst>
              <a:gd name="adj" fmla="val 15000"/>
            </a:avLst>
          </a:prstGeom>
          <a:solidFill>
            <a:srgbClr val="F8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47472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47472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35E"/>
                </a:solidFill>
                <a:latin typeface="Consolas"/>
              </a:rPr>
              <a:t>p = 0.192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47472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8342C"/>
                </a:solidFill>
                <a:latin typeface="Calibri"/>
              </a:rPr>
              <a:t>비유의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4160520"/>
            <a:ext cx="4251960" cy="566928"/>
          </a:xfrm>
          <a:prstGeom prst="roundRect">
            <a:avLst>
              <a:gd name="adj" fmla="val 15000"/>
            </a:avLst>
          </a:prstGeom>
          <a:solidFill>
            <a:srgbClr val="F8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416052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16052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35E"/>
                </a:solidFill>
                <a:latin typeface="Consolas"/>
              </a:rPr>
              <a:t>p = 0.676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16052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8342C"/>
                </a:solidFill>
                <a:latin typeface="Calibri"/>
              </a:rPr>
              <a:t>비유의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8342C"/>
                </a:solidFill>
                <a:latin typeface="Calibri"/>
              </a:rPr>
              <a:t>4개 사양군 중 3개는 탐지율이 우연 수준과 통계적으로 구분되지 않는다 — </a:t>
            </a:r>
            <a:r>
              <a:rPr sz="1300" b="0" i="0">
                <a:solidFill>
                  <a:srgbClr val="55635E"/>
                </a:solidFill>
                <a:latin typeface="Calibri"/>
              </a:rPr>
              <a:t>이는 방법론이 만든 결과가 아니라 데이터가 준 정직한 결론이며, 그대로 §10 RCM 결정에 반영된다.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outputs/detection_stats.csv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연계 · RCM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RCM 정비전략 결정 — 규칙은 동일, 데이터가 결정한다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35E"/>
                </a:solidFill>
                <a:latin typeface="Calibri"/>
              </a:rPr>
              <a:t>① 이상신호가 통계적으로 유의 + 탐지율≥50%면 상태기반정비(CBM)  →  ② 아니면 심각도(S)가 높으면 시간기준정비, 낮으면 사후정비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6974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13432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422"/>
                </a:solidFill>
                <a:latin typeface="Cambria"/>
              </a:rPr>
              <a:t>형상B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15768"/>
            <a:ext cx="2368296" cy="868680"/>
          </a:xfrm>
          <a:prstGeom prst="roundRect">
            <a:avLst>
              <a:gd name="adj" fmla="val 10000"/>
            </a:avLst>
          </a:prstGeom>
          <a:solidFill>
            <a:srgbClr val="E3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236829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C7A4F"/>
                </a:solidFill>
                <a:latin typeface="Calibri"/>
              </a:rPr>
              <a:t>시간기준 예방정비</a:t>
            </a:r>
          </a:p>
          <a:p>
            <a:pPr algn="ctr"/>
            <a:r>
              <a:rPr sz="1300" b="1" i="0">
                <a:solidFill>
                  <a:srgbClr val="3C7A4F"/>
                </a:solidFill>
                <a:latin typeface="Calibri"/>
              </a:rPr>
              <a:t>(Hard-Time)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749040"/>
            <a:ext cx="236829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유의(p=0.004)하지만 탐지율 11.8%로 낮아 CBM 단독 불충분 · S=10 높음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48840"/>
            <a:ext cx="26974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313432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422"/>
                </a:solidFill>
                <a:latin typeface="Cambria"/>
              </a:rPr>
              <a:t>형상A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2715768"/>
            <a:ext cx="2368296" cy="868680"/>
          </a:xfrm>
          <a:prstGeom prst="roundRect">
            <a:avLst>
              <a:gd name="adj" fmla="val 10000"/>
            </a:avLst>
          </a:prstGeom>
          <a:solidFill>
            <a:srgbClr val="F7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788920"/>
            <a:ext cx="236829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5651D"/>
                </a:solidFill>
                <a:latin typeface="Calibri"/>
              </a:rPr>
              <a:t>시간기준 예방정비</a:t>
            </a:r>
          </a:p>
          <a:p>
            <a:pPr algn="ctr"/>
            <a:r>
              <a:rPr sz="1300" b="1" i="0">
                <a:solidFill>
                  <a:srgbClr val="B5651D"/>
                </a:solidFill>
                <a:latin typeface="Calibri"/>
              </a:rPr>
              <a:t>(Hard-Time)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49040"/>
            <a:ext cx="236829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조기신호 비유의(p=0.124) · S=5 → 정기 교체로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48840"/>
            <a:ext cx="26974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422"/>
                </a:solidFill>
                <a:latin typeface="Cambria"/>
              </a:rPr>
              <a:t>형상C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2715768"/>
            <a:ext cx="2368296" cy="868680"/>
          </a:xfrm>
          <a:prstGeom prst="roundRect">
            <a:avLst>
              <a:gd name="adj" fmla="val 10000"/>
            </a:avLst>
          </a:prstGeom>
          <a:solidFill>
            <a:srgbClr val="F8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788920"/>
            <a:ext cx="236829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A8342C"/>
                </a:solidFill>
                <a:latin typeface="Calibri"/>
              </a:rPr>
              <a:t>사후정비</a:t>
            </a:r>
          </a:p>
          <a:p>
            <a:pPr algn="ctr"/>
            <a:r>
              <a:rPr sz="1300" b="1" i="0">
                <a:solidFill>
                  <a:srgbClr val="A8342C"/>
                </a:solidFill>
                <a:latin typeface="Calibri"/>
              </a:rPr>
              <a:t>(Run-to-Failure)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749040"/>
            <a:ext cx="236829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조기신호 비유의(p=0.192) · S=2 낮음 → 고장 후 조치가 경제적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148840"/>
            <a:ext cx="26974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2313432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422"/>
                </a:solidFill>
                <a:latin typeface="Cambria"/>
              </a:rPr>
              <a:t>형상D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2715768"/>
            <a:ext cx="2368296" cy="868680"/>
          </a:xfrm>
          <a:prstGeom prst="roundRect">
            <a:avLst>
              <a:gd name="adj" fmla="val 10000"/>
            </a:avLst>
          </a:prstGeom>
          <a:solidFill>
            <a:srgbClr val="F8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788920"/>
            <a:ext cx="236829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A8342C"/>
                </a:solidFill>
                <a:latin typeface="Calibri"/>
              </a:rPr>
              <a:t>사후정비</a:t>
            </a:r>
          </a:p>
          <a:p>
            <a:pPr algn="ctr"/>
            <a:r>
              <a:rPr sz="1300" b="1" i="0">
                <a:solidFill>
                  <a:srgbClr val="A8342C"/>
                </a:solidFill>
                <a:latin typeface="Calibri"/>
              </a:rPr>
              <a:t>(Run-to-Failure)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3749040"/>
            <a:ext cx="236829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35E"/>
                </a:solidFill>
                <a:latin typeface="Calibri"/>
              </a:rPr>
              <a:t>조기신호 비유의(p=0.676) · S=1 낮음 → 고장 후 조치가 경제적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outputs/lifecycle.csv · scripts/02_lifecycle.py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연계 · LORA / 보급소요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수리수준분석과 정량 보급소요 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35E"/>
                </a:solidFill>
                <a:latin typeface="Calibri"/>
              </a:rPr>
              <a:t>동일 물리 구성품이므로 수리복잡도(중상)는 공통 가정, O등급에 따라 창정비 우선순위만 차등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  <a:gridCol w="1645920"/>
                <a:gridCol w="123444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사양군</a:t>
                      </a:r>
                    </a:p>
                  </a:txBody>
                  <a:tcPr anchor="ctr" marL="91440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LORA 수준</a:t>
                      </a:r>
                    </a:p>
                  </a:txBody>
                  <a:tcPr anchor="ctr" marL="91440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연간소요(건)</a:t>
                      </a:r>
                    </a:p>
                  </a:txBody>
                  <a:tcPr anchor="ctr" marL="91440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재주문점</a:t>
                      </a:r>
                    </a:p>
                  </a:txBody>
                  <a:tcPr anchor="ctr" marL="91440">
                    <a:solidFill>
                      <a:srgbClr val="2C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단가</a:t>
                      </a:r>
                    </a:p>
                  </a:txBody>
                  <a:tcPr anchor="ctr" marL="91440">
                    <a:solidFill>
                      <a:srgbClr val="2C6B7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형상B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창정비 우선상향+전진배치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12.63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5.24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2.80억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형상A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창정비 우선순위 상향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10.58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4.60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2.80억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형상C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표준 2-Level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7.42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3.56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2.80억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422"/>
                          </a:solidFill>
                          <a:latin typeface="Calibri"/>
                        </a:rPr>
                        <a:t>형상D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표준 2-Level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4.46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2422"/>
                          </a:solidFill>
                          <a:latin typeface="Calibri"/>
                        </a:rPr>
                        <a:t>2.80억</a:t>
                      </a:r>
                    </a:p>
                  </a:txBody>
                  <a:tcPr anchor="ctr" marL="91440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05256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7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226771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5651D"/>
                </a:solidFill>
                <a:latin typeface="Cambria"/>
              </a:rPr>
              <a:t>보급소요 산식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633472"/>
            <a:ext cx="22860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22"/>
                </a:solidFill>
                <a:latin typeface="Calibri"/>
              </a:rPr>
              <a:t>연간소요 = 실측 O등급 발생률</a:t>
            </a:r>
          </a:p>
          <a:p>
            <a:pPr algn="l"/>
            <a:r>
              <a:rPr sz="1100" b="0" i="0">
                <a:solidFill>
                  <a:srgbClr val="1A2422"/>
                </a:solidFill>
                <a:latin typeface="Calibri"/>
              </a:rPr>
              <a:t>  × 가정 함대 400대</a:t>
            </a:r>
          </a:p>
          <a:p>
            <a:pPr algn="l"/>
            <a:r>
              <a:rPr sz="1100" b="0" i="0">
                <a:solidFill>
                  <a:srgbClr val="1A2422"/>
                </a:solidFill>
                <a:latin typeface="Calibri"/>
              </a:rPr>
              <a:t>  × 가정 연간가동</a:t>
            </a:r>
          </a:p>
          <a:p>
            <a:pPr algn="l"/>
            <a:r>
              <a:rPr sz="600" b="0" i="0">
                <a:solidFill>
                  <a:srgbClr val="1A2422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A2422"/>
                </a:solidFill>
                <a:latin typeface="Calibri"/>
              </a:rPr>
              <a:t>재주문점 = 리드타임수요</a:t>
            </a:r>
          </a:p>
          <a:p>
            <a:pPr algn="l"/>
            <a:r>
              <a:rPr sz="1100" b="0" i="0">
                <a:solidFill>
                  <a:srgbClr val="1A2422"/>
                </a:solidFill>
                <a:latin typeface="Calibri"/>
              </a:rPr>
              <a:t>  + 안전재고(서비스수준 95%,</a:t>
            </a:r>
          </a:p>
          <a:p>
            <a:pPr algn="l"/>
            <a:r>
              <a:rPr sz="1100" b="0" i="0">
                <a:solidFill>
                  <a:srgbClr val="1A2422"/>
                </a:solidFill>
                <a:latin typeface="Calibri"/>
              </a:rPr>
              <a:t>    z=1.645)</a:t>
            </a:r>
          </a:p>
          <a:p>
            <a:pPr algn="l"/>
            <a:r>
              <a:rPr sz="600" b="0" i="0">
                <a:solidFill>
                  <a:srgbClr val="1A2422"/>
                </a:solidFill>
                <a:latin typeface="Calibri"/>
              </a:rPr>
              <a:t/>
            </a:r>
          </a:p>
          <a:p>
            <a:pPr algn="l"/>
            <a:r>
              <a:rPr sz="1050" b="0" i="1">
                <a:solidFill>
                  <a:srgbClr val="55635E"/>
                </a:solidFill>
                <a:latin typeface="Calibri"/>
              </a:rPr>
              <a:t>가정: 리드타임 75일,</a:t>
            </a:r>
          </a:p>
          <a:p>
            <a:pPr algn="l"/>
            <a:r>
              <a:rPr sz="1050" b="0" i="1">
                <a:solidFill>
                  <a:srgbClr val="55635E"/>
                </a:solidFill>
                <a:latin typeface="Calibri"/>
              </a:rPr>
              <a:t>단가 2.8억원 — 발생률만</a:t>
            </a:r>
          </a:p>
          <a:p>
            <a:pPr algn="l"/>
            <a:r>
              <a:rPr sz="1050" b="0" i="1">
                <a:solidFill>
                  <a:srgbClr val="55635E"/>
                </a:solidFill>
                <a:latin typeface="Calibri"/>
              </a:rPr>
              <a:t>실측, 나머지는 예시 가정치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6B73"/>
                </a:solidFill>
                <a:latin typeface="Calibri"/>
              </a:rPr>
              <a:t>IETM 연계: </a:t>
            </a:r>
            <a:r>
              <a:rPr sz="1250" b="0" i="0">
                <a:solidFill>
                  <a:srgbClr val="55635E"/>
                </a:solidFill>
                <a:latin typeface="Calibri"/>
              </a:rPr>
              <a:t>경고코드 → 절차서 연동, D에서 얻은 평균 리드타임의 절반을 SLA로 설정. 유의하지 않은 3개 군은 “사전점검” 대신 정기점검 강화 절차만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outputs/lifecycle.json (assumptions)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연계 · 설계개선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설계개선(ECP) 트리거 — RPN이 낮아도 “안 보이는 고장”은 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35E"/>
                </a:solidFill>
                <a:latin typeface="Calibri"/>
              </a:rPr>
              <a:t>트리거 규칙: ① RPN 전체 1위  ② 발생도 최고등급(O=10)  ③ 이상신호가 우연 수준과 통계적으로 구분 안 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8E2DF"/>
          </a:solidFill>
          <a:ln w="12700">
            <a:solidFill>
              <a:srgbClr val="A83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40280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8342C"/>
                </a:solidFill>
                <a:latin typeface="Cambria"/>
              </a:rPr>
              <a:t>형상B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51760"/>
            <a:ext cx="23682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</a:pPr>
            <a:r>
              <a:rPr sz="1080" b="1" i="0">
                <a:solidFill>
                  <a:srgbClr val="A8342C"/>
                </a:solidFill>
                <a:latin typeface="Calibri"/>
              </a:rPr>
              <a:t>―  </a:t>
            </a:r>
            <a:r>
              <a:rPr sz="1080" b="0" i="0">
                <a:solidFill>
                  <a:srgbClr val="1A2422"/>
                </a:solidFill>
                <a:latin typeface="Calibri"/>
              </a:rPr>
              <a:t>RPN 전체 1위 (RPN=800) → 우선 재설계/대체부품 검토</a:t>
            </a:r>
          </a:p>
          <a:p>
            <a:pPr>
              <a:spcAft>
                <a:spcPts val="720"/>
              </a:spcAft>
            </a:pPr>
            <a:r>
              <a:rPr sz="1080" b="1" i="0">
                <a:solidFill>
                  <a:srgbClr val="A8342C"/>
                </a:solidFill>
                <a:latin typeface="Calibri"/>
              </a:rPr>
              <a:t>―  </a:t>
            </a:r>
            <a:r>
              <a:rPr sz="1080" b="0" i="0">
                <a:solidFill>
                  <a:srgbClr val="1A2422"/>
                </a:solidFill>
                <a:latin typeface="Calibri"/>
              </a:rPr>
              <a:t>발생도 최고등급(O=10) → 근본 설계원인 분석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8E2DF"/>
          </a:solidFill>
          <a:ln w="12700">
            <a:solidFill>
              <a:srgbClr val="A83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240280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8342C"/>
                </a:solidFill>
                <a:latin typeface="Cambria"/>
              </a:rPr>
              <a:t>형상A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651760"/>
            <a:ext cx="23682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</a:pPr>
            <a:r>
              <a:rPr sz="1080" b="1" i="0">
                <a:solidFill>
                  <a:srgbClr val="A8342C"/>
                </a:solidFill>
                <a:latin typeface="Calibri"/>
              </a:rPr>
              <a:t>―  </a:t>
            </a:r>
            <a:r>
              <a:rPr sz="1080" b="0" i="0">
                <a:solidFill>
                  <a:srgbClr val="1A2422"/>
                </a:solidFill>
                <a:latin typeface="Calibri"/>
              </a:rPr>
              <a:t>이상신호가 우연 수준과 통계적으로 구분 안 됨(p=0.124) → 진단 알고리즘/센서 고도화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8E2DF"/>
          </a:solidFill>
          <a:ln w="12700">
            <a:solidFill>
              <a:srgbClr val="A83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40280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8342C"/>
                </a:solidFill>
                <a:latin typeface="Cambria"/>
              </a:rPr>
              <a:t>형상C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651760"/>
            <a:ext cx="23682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</a:pPr>
            <a:r>
              <a:rPr sz="1080" b="1" i="0">
                <a:solidFill>
                  <a:srgbClr val="A8342C"/>
                </a:solidFill>
                <a:latin typeface="Calibri"/>
              </a:rPr>
              <a:t>―  </a:t>
            </a:r>
            <a:r>
              <a:rPr sz="1080" b="0" i="0">
                <a:solidFill>
                  <a:srgbClr val="1A2422"/>
                </a:solidFill>
                <a:latin typeface="Calibri"/>
              </a:rPr>
              <a:t>이상신호가 우연 수준과 통계적으로 구분 안 됨(p=0.192) → 진단 알고리즘/센서 고도화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8E2DF"/>
          </a:solidFill>
          <a:ln w="12700">
            <a:solidFill>
              <a:srgbClr val="A83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2240280"/>
            <a:ext cx="23682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8342C"/>
                </a:solidFill>
                <a:latin typeface="Cambria"/>
              </a:rPr>
              <a:t>형상D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651760"/>
            <a:ext cx="23682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</a:pPr>
            <a:r>
              <a:rPr sz="1080" b="1" i="0">
                <a:solidFill>
                  <a:srgbClr val="A8342C"/>
                </a:solidFill>
                <a:latin typeface="Calibri"/>
              </a:rPr>
              <a:t>―  </a:t>
            </a:r>
            <a:r>
              <a:rPr sz="1080" b="0" i="0">
                <a:solidFill>
                  <a:srgbClr val="1A2422"/>
                </a:solidFill>
                <a:latin typeface="Calibri"/>
              </a:rPr>
              <a:t>이상신호가 우연 수준과 통계적으로 구분 안 됨(p=0.676) → 진단 알고리즘/센서 고도화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422"/>
                </a:solidFill>
                <a:latin typeface="Calibri"/>
              </a:rPr>
              <a:t>4개 사양군 전부 ECP 후보 — </a:t>
            </a:r>
            <a:r>
              <a:rPr sz="1300" b="0" i="0">
                <a:solidFill>
                  <a:srgbClr val="55635E"/>
                </a:solidFill>
                <a:latin typeface="Calibri"/>
              </a:rPr>
              <a:t>이는 방법론의 과잉진단이 아니라, 이 구성품군 전체가 “탐지 신호 자체가 약하다”는 공통 이슈를 실측으로 보여준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outputs/lifecycle.json (ecp_triggers)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6B73"/>
                </a:solidFill>
                <a:latin typeface="Calibri"/>
              </a:rPr>
              <a:t>환류(Feedback)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22"/>
                </a:solidFill>
                <a:latin typeface="Cambria"/>
              </a:rPr>
              <a:t>ECP를 적용하면, 실제로 무엇이 바뀌는가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5651D"/>
                </a:solidFill>
                <a:latin typeface="Calibri"/>
              </a:rPr>
              <a:t>가정: </a:t>
            </a:r>
            <a:r>
              <a:rPr sz="1200" b="0" i="0">
                <a:solidFill>
                  <a:srgbClr val="55635E"/>
                </a:solidFill>
                <a:latin typeface="Calibri"/>
              </a:rPr>
              <a:t>근본설계 개선 → O등급 -2 (발생률 ~40%↓)   ·   진단 알고리즘 고도화 → D등급 -3 (탐지율 60%까지 개선)  — 등급만 가정, RPN·RI·RCM·보급소요는 실제 산식으로 재계산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05740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210312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6B73"/>
                </a:solidFill>
                <a:latin typeface="Cambria"/>
              </a:rPr>
              <a:t>RCM 전략 재산정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560320"/>
            <a:ext cx="4800600" cy="658368"/>
          </a:xfrm>
          <a:prstGeom prst="roundRect">
            <a:avLst>
              <a:gd name="adj" fmla="val 12000"/>
            </a:avLst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2560320"/>
            <a:ext cx="100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560320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68F"/>
                </a:solidFill>
                <a:latin typeface="Calibri"/>
              </a:rPr>
              <a:t>Hard-Time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56032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5635E"/>
                </a:solidFill>
                <a:latin typeface="Calibri"/>
              </a:rPr>
              <a:t>→ Hard-Time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337560"/>
            <a:ext cx="4800600" cy="658368"/>
          </a:xfrm>
          <a:prstGeom prst="roundRect">
            <a:avLst>
              <a:gd name="adj" fmla="val 12000"/>
            </a:avLst>
          </a:prstGeom>
          <a:solidFill>
            <a:srgbClr val="E3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3337560"/>
            <a:ext cx="100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337560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68F"/>
                </a:solidFill>
                <a:latin typeface="Calibri"/>
              </a:rPr>
              <a:t>Hard-Time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333756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C7A4F"/>
                </a:solidFill>
                <a:latin typeface="Calibri"/>
              </a:rPr>
              <a:t>→ CBM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114800"/>
            <a:ext cx="4800600" cy="658368"/>
          </a:xfrm>
          <a:prstGeom prst="roundRect">
            <a:avLst>
              <a:gd name="adj" fmla="val 12000"/>
            </a:avLst>
          </a:prstGeom>
          <a:solidFill>
            <a:srgbClr val="E3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114800"/>
            <a:ext cx="100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114800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68F"/>
                </a:solidFill>
                <a:latin typeface="Calibri"/>
              </a:rPr>
              <a:t>Run-to-Failure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411480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C7A4F"/>
                </a:solidFill>
                <a:latin typeface="Calibri"/>
              </a:rPr>
              <a:t>→ CBM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892040"/>
            <a:ext cx="4800600" cy="658368"/>
          </a:xfrm>
          <a:prstGeom prst="roundRect">
            <a:avLst>
              <a:gd name="adj" fmla="val 12000"/>
            </a:avLst>
          </a:prstGeom>
          <a:solidFill>
            <a:srgbClr val="E3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4892040"/>
            <a:ext cx="100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422"/>
                </a:solidFill>
                <a:latin typeface="Calibri"/>
              </a:rPr>
              <a:t>형상D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892040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68F"/>
                </a:solidFill>
                <a:latin typeface="Calibri"/>
              </a:rPr>
              <a:t>Run-to-Failure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89204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C7A4F"/>
                </a:solidFill>
                <a:latin typeface="Calibri"/>
              </a:rPr>
              <a:t>→ CBM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>웹 워크벤치 09 피드백 시뮬레이터 탭 — 브라우저에서 실시간 재계산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68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FD8DC"/>
                </a:solidFill>
                <a:latin typeface="Calibri"/>
              </a:rPr>
              <a:t>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7ECE9"/>
                </a:solidFill>
                <a:latin typeface="Cambria"/>
              </a:rPr>
              <a:t>반드시 함께 읽을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282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3A065"/>
                </a:solidFill>
                <a:latin typeface="Cambria"/>
              </a:rPr>
              <a:t>수치의 출처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7ECE9"/>
                </a:solidFill>
                <a:latin typeface="Calibri"/>
              </a:rPr>
              <a:t>O/S/D 등급은 SCANIA 트럭 함대의 실측(익명화·섭동)값. 보급소요의 리드타임·단가·가상 함대 규모는 방법론 예시를 위한 가정치일 뿐, 군 장비 실제 값이 아님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3A065"/>
                </a:solidFill>
                <a:latin typeface="Cambria"/>
              </a:rPr>
              <a:t>단일 구성품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7568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7ECE9"/>
                </a:solidFill>
                <a:latin typeface="Calibri"/>
              </a:rPr>
              <a:t>이 데이터는 구성품이 하나뿐 — 3~5개 고장모드 비교가 아니라 “1개 고장모드 × 4개 사양군” 구조로 대체함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826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3A065"/>
                </a:solidFill>
                <a:latin typeface="Cambria"/>
              </a:rPr>
              <a:t>채널 의미 비공개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7ECE9"/>
                </a:solidFill>
                <a:latin typeface="Calibri"/>
              </a:rPr>
              <a:t>8개 계측 채널의 물리적 정의가 전부 익명화되어 “이상치 유무”까지만 판단, 원인 설명은 불가능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54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826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3A065"/>
                </a:solidFill>
                <a:latin typeface="Cambria"/>
              </a:rPr>
              <a:t>소량·다품종 환경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3016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7ECE9"/>
                </a:solidFill>
                <a:latin typeface="Calibri"/>
              </a:rPr>
              <a:t>군 장비는 이보다 훨씬 적은 수량·다양한 형상이 혼재 — O 등급 신뢰구간이 넓어지고 표본 변동에 취약해짐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3717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3A065"/>
                </a:solidFill>
                <a:latin typeface="Cambria"/>
              </a:rPr>
              <a:t>자체조치·미보고 고장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8464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7ECE9"/>
                </a:solidFill>
                <a:latin typeface="Calibri"/>
              </a:rPr>
              <a:t>이 데이터는 모든 수리가 기록된다고 가정 — 야전 자체 조치·미보고 결함은 발생도(O)를 체계적으로 과소평가하게 만듦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7091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83717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3A065"/>
                </a:solidFill>
                <a:latin typeface="Cambria"/>
              </a:rPr>
              <a:t>보안 승인 절차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8464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7ECE9"/>
                </a:solidFill>
                <a:latin typeface="Calibri"/>
              </a:rPr>
              <a:t>실제 군 데이터는 정보 등급 분류·반출 승인 등 이 예시에 없던 절차를 거쳐야 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BB4"/>
                </a:solidFill>
                <a:latin typeface="Calibri"/>
              </a:rPr>
              <a:t>05_ips_impact.md §5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BB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FD8DC"/>
                </a:solidFill>
                <a:latin typeface="Calibri"/>
              </a:rPr>
              <a:t>맺음말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실측 데이터로도, 방법론은 동작했다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</a:pPr>
            <a:r>
              <a:rPr sz="145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450" b="0" i="0">
                <a:solidFill>
                  <a:srgbClr val="E7ECE9"/>
                </a:solidFill>
                <a:latin typeface="Calibri"/>
              </a:rPr>
              <a:t>원시 계측·정비 로그 → O/S/D 등급 → RCM/LORA/보급소요/IETM/설계개선까지, 실측 데이터에서 전 과정이 실제로 계산됨</a:t>
            </a:r>
          </a:p>
          <a:p>
            <a:pPr>
              <a:spcAft>
                <a:spcPts val="864"/>
              </a:spcAft>
            </a:pPr>
            <a:r>
              <a:rPr sz="145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450" b="0" i="0">
                <a:solidFill>
                  <a:srgbClr val="E7ECE9"/>
                </a:solidFill>
                <a:latin typeface="Calibri"/>
              </a:rPr>
              <a:t>탐지 신호가 약하다는 “불편한 결과”까지 숨기지 않았고, 그 결과가 RCM·ECP 결정에 그대로 반영됨을 확인</a:t>
            </a:r>
          </a:p>
          <a:p>
            <a:pPr>
              <a:spcAft>
                <a:spcPts val="864"/>
              </a:spcAft>
            </a:pPr>
            <a:r>
              <a:rPr sz="1450" b="1" i="0">
                <a:solidFill>
                  <a:srgbClr val="B5651D"/>
                </a:solidFill>
                <a:latin typeface="Calibri"/>
              </a:rPr>
              <a:t>―  </a:t>
            </a:r>
            <a:r>
              <a:rPr sz="1450" b="0" i="0">
                <a:solidFill>
                  <a:srgbClr val="E7ECE9"/>
                </a:solidFill>
                <a:latin typeface="Calibri"/>
              </a:rPr>
              <a:t>설계개선(ECP) 적용 시 O·D·RPN·RCM이 실제로 재계산되는 피드백 루프를 수치로 시연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149840" cy="1234440"/>
          </a:xfrm>
          <a:prstGeom prst="roundRect">
            <a:avLst>
              <a:gd name="adj" fmla="val 8000"/>
            </a:avLst>
          </a:prstGeom>
          <a:solidFill>
            <a:srgbClr val="1D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578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9BBB4"/>
                </a:solidFill>
                <a:latin typeface="Calibri"/>
              </a:rPr>
              <a:t>웹 워크벤치 (전체 10개 탭, 실시간 재계산)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Consolas"/>
              </a:rPr>
              <a:t>claude.ai/code/artifact/7c5a27c2-d582-48db-a00b-f4c421afe933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BB4"/>
                </a:solidFill>
                <a:latin typeface="Calibri"/>
              </a:rPr>
              <a:t>FMECA–IPS 연계체계 실증 연구  ·  전량 실측(CC BY 4.0)·가정치 구분 명시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BB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