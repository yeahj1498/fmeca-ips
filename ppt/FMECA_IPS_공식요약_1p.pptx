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산출 공식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422"/>
                </a:solidFill>
                <a:latin typeface="Cambria"/>
              </a:rPr>
              <a:t>FMECA O·S·D·위험지수 산출식과 IPS 연계 판정 규칙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743200" cy="2331720"/>
          </a:xfrm>
          <a:prstGeom prst="roundRect">
            <a:avLst>
              <a:gd name="adj" fmla="val 5000"/>
            </a:avLst>
          </a:prstGeom>
          <a:solidFill>
            <a:srgbClr val="F0F4F2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44168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6B73"/>
                </a:solidFill>
                <a:latin typeface="Cambria"/>
              </a:rPr>
              <a:t>발생도 (O)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09928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rate = λ × 1000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λ=수리건수÷노출시간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12264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O등급 = bin(log₁₀(rate))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관측범위 10구간 균등분할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14600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CI = χ²(0.025,2k)/2,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χ²(0.975,2(k+1))/2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743200" cy="2331720"/>
          </a:xfrm>
          <a:prstGeom prst="roundRect">
            <a:avLst>
              <a:gd name="adj" fmla="val 5000"/>
            </a:avLst>
          </a:prstGeom>
          <a:solidFill>
            <a:srgbClr val="F0F4F2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344168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mbria"/>
              </a:rPr>
              <a:t>심각도 (S, 근사)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709928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guide word = MORE/LESS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부호부 z 평균의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12264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오차율% = |rate−기준선| /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기준선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14600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S = round(1+9×S_norm)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결과심각도 기록 없어 대리지표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234440"/>
            <a:ext cx="2743200" cy="2331720"/>
          </a:xfrm>
          <a:prstGeom prst="roundRect">
            <a:avLst>
              <a:gd name="adj" fmla="val 5000"/>
            </a:avLst>
          </a:prstGeom>
          <a:solidFill>
            <a:srgbClr val="F0F4F2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344168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6B73"/>
                </a:solidFill>
                <a:latin typeface="Cambria"/>
              </a:rPr>
              <a:t>검출도 (D)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709928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탐지력 = 0.6×탐지율 +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0.4×min(리드타임/60,1)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112264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D = clip(round(10−9×탐지력)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1,10)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514600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p = Binomial(n,p_null)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이항검정, p&lt;0.05면 유의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234440"/>
            <a:ext cx="2743200" cy="2331720"/>
          </a:xfrm>
          <a:prstGeom prst="roundRect">
            <a:avLst>
              <a:gd name="adj" fmla="val 5000"/>
            </a:avLst>
          </a:prstGeom>
          <a:solidFill>
            <a:srgbClr val="F0F4F2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1344168"/>
            <a:ext cx="2414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mbria"/>
              </a:rPr>
              <a:t>위험지수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1709928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RPN = O × S × D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곱셈식, 극단값에 민감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112264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RI = 0.4O+0.4S+0.2D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가중합산식, 완만하게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514600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 i="0">
                <a:solidFill>
                  <a:srgbClr val="1A2422"/>
                </a:solidFill>
                <a:latin typeface="Consolas"/>
              </a:rPr>
              <a:t>두 지수 순위 비교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55635E"/>
                </a:solidFill>
                <a:latin typeface="Calibri"/>
              </a:rPr>
              <a:t>왜곡 여부 상호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7947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422"/>
                </a:solidFill>
                <a:latin typeface="Cambria"/>
              </a:rPr>
              <a:t>IPS 연계 판정 규칙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78808"/>
            <a:ext cx="2157984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78808"/>
            <a:ext cx="2157984" cy="310896"/>
          </a:xfrm>
          <a:prstGeom prst="roundRect">
            <a:avLst>
              <a:gd name="adj" fmla="val 18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334256"/>
            <a:ext cx="2157984" cy="155448"/>
          </a:xfrm>
          <a:prstGeom prst="rect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062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RCM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" y="4599432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유의(p&lt;.05)&amp;탐지율≥50%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498348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→ CBM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5367528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else S≥5 → Hard-Time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5751576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else → RTF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52344" y="4178808"/>
            <a:ext cx="2157984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752344" y="4178808"/>
            <a:ext cx="2157984" cy="310896"/>
          </a:xfrm>
          <a:prstGeom prst="roundRect">
            <a:avLst>
              <a:gd name="adj" fmla="val 18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52344" y="4334256"/>
            <a:ext cx="2157984" cy="155448"/>
          </a:xfrm>
          <a:prstGeom prst="rect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52344" y="42062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LORA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599432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O≥8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98348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→ 창정비 우선상향+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367528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예비품 전진배치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751576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else → 표준 2-Level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01768" y="4178808"/>
            <a:ext cx="2157984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01768" y="4178808"/>
            <a:ext cx="2157984" cy="310896"/>
          </a:xfrm>
          <a:prstGeom prst="roundRect">
            <a:avLst>
              <a:gd name="adj" fmla="val 18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01768" y="4334256"/>
            <a:ext cx="2157984" cy="155448"/>
          </a:xfrm>
          <a:prstGeom prst="rect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01768" y="42062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보급소요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784" y="4599432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annual_demand=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784" y="498348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rate×fleet×가동일수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5367528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reorder_point=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784" y="5751576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리드타임수요+안전재고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51192" y="4178808"/>
            <a:ext cx="2157984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251192" y="4178808"/>
            <a:ext cx="2157984" cy="310896"/>
          </a:xfrm>
          <a:prstGeom prst="roundRect">
            <a:avLst>
              <a:gd name="adj" fmla="val 18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51192" y="4334256"/>
            <a:ext cx="2157984" cy="155448"/>
          </a:xfrm>
          <a:prstGeom prst="rect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51192" y="42062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IETM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9208" y="4599432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유의&amp;리드타임 존재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9208" y="498348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→ SLA=리드타임×0.5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79208" y="5367528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else → 정기점검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79208" y="5751576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강화(SLA 없음)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0616" y="4178808"/>
            <a:ext cx="2157984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500616" y="4178808"/>
            <a:ext cx="2157984" cy="310896"/>
          </a:xfrm>
          <a:prstGeom prst="roundRect">
            <a:avLst>
              <a:gd name="adj" fmla="val 18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0616" y="4334256"/>
            <a:ext cx="2157984" cy="155448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0616" y="42062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ECP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28632" y="4599432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RPN 1위 / O=10 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8632" y="498348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비유의 중 하나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8632" y="5367528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→ 설계개선 후보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28632" y="5751576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 i="0">
                <a:solidFill>
                  <a:srgbClr val="1A2422"/>
                </a:solidFill>
                <a:latin typeface="Calibri"/>
              </a:rPr>
              <a:t>else → 현행유지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68F"/>
                </a:solidFill>
                <a:latin typeface="Calibri"/>
              </a:rPr>
              <a:t>전체 수식의 "왜 이렇게 계산하는가" 논리 설명은 doc/FMECA_IPS_공식정리.docx 참고 · 실측 원천: SCANIA Component X (CC BY 4.0)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